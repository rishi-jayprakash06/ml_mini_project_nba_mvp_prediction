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5C24C17-DE09-6C34-D5F4-1CC623A03D33}">
          <p14:sldIdLst>
            <p14:sldId id="256"/>
          </p14:sldIdLst>
        </p14:section>
        <p14:section name="Data" id="{BEE69A5F-806E-9B56-43AC-784A42FBBCC3}">
          <p14:sldIdLst>
            <p14:sldId id="258"/>
            <p14:sldId id="259"/>
            <p14:sldId id="260"/>
          </p14:sldIdLst>
        </p14:section>
        <p14:section name="Models and Results" id="{49EFE58D-1FF2-6B5B-B503-B9824A420A64}">
          <p14:sldIdLst>
            <p14:sldId id="261"/>
            <p14:sldId id="262"/>
            <p14:sldId id="263"/>
            <p14:sldId id="264"/>
            <p14:sldId id="265"/>
          </p14:sldIdLst>
        </p14:section>
        <p14:section name="System and Wrap-up" id="{294B28D3-C38B-EE72-BA33-27B31C8AC9B7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020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B1020"/>
                </a:solidFill>
                <a:latin typeface="+mn-lt"/>
              </a:rPr>
              <a:t>Per-game averages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League average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0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Points</c:v>
                </c:pt>
                <c:pt idx="1">
                  <c:v>Rebounds</c:v>
                </c:pt>
                <c:pt idx="2">
                  <c:v>Assists</c:v>
                </c:pt>
                <c:pt idx="3">
                  <c:v>Minutes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8.8000000000000007</c:v>
                </c:pt>
                <c:pt idx="1">
                  <c:v>3.9</c:v>
                </c:pt>
                <c:pt idx="2">
                  <c:v>2</c:v>
                </c:pt>
                <c:pt idx="3">
                  <c:v>20.8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B8-4A95-94D1-15C77F9FD4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MVP average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0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Points</c:v>
                </c:pt>
                <c:pt idx="1">
                  <c:v>Rebounds</c:v>
                </c:pt>
                <c:pt idx="2">
                  <c:v>Assists</c:v>
                </c:pt>
                <c:pt idx="3">
                  <c:v>Minutes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26.3</c:v>
                </c:pt>
                <c:pt idx="1">
                  <c:v>12.1</c:v>
                </c:pt>
                <c:pt idx="2">
                  <c:v>5.7</c:v>
                </c:pt>
                <c:pt idx="3">
                  <c:v>38.700000000000003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B8-4A95-94D1-15C77F9FD4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02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1020"/>
                </a:solidFill>
                <a:latin typeface="+mn-lt"/>
              </a:rPr>
              <a:t>Winner ranked first / in top three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0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Top-1 accuracy</c:v>
                </c:pt>
                <c:pt idx="1">
                  <c:v>Top-3 accuracy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83.3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8-48B6-9504-878324273A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0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Top-1 accuracy</c:v>
                </c:pt>
                <c:pt idx="1">
                  <c:v>Top-3 accuracy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16.7</c:v>
                </c:pt>
                <c:pt idx="1">
                  <c:v>83.3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78-48B6-9504-878324273A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Naive Bayes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0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Top-1 accuracy</c:v>
                </c:pt>
                <c:pt idx="1">
                  <c:v>Top-3 accuracy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16.7</c:v>
                </c:pt>
                <c:pt idx="1">
                  <c:v>83.3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78-48B6-9504-878324273A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0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020"/>
                </a:solidFill>
                <a:latin typeface="+mn-lt"/>
              </a:rPr>
              <a:t>Random Forest importance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817-48BA-9BFC-6D025BFE540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817-48BA-9BFC-6D025BFE5400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17-48BA-9BFC-6D025BFE5400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817-48BA-9BFC-6D025BFE5400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817-48BA-9BFC-6D025BFE5400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817-48BA-9BFC-6D025BFE5400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817-48BA-9BFC-6D025BFE5400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817-48BA-9BFC-6D025BFE5400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817-48BA-9BFC-6D025BFE5400}"/>
              </c:ext>
            </c:extLst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817-48BA-9BFC-6D025BFE540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0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Points / game</c:v>
                </c:pt>
                <c:pt idx="1">
                  <c:v>Minutes / game</c:v>
                </c:pt>
                <c:pt idx="2">
                  <c:v>Rebounds / game</c:v>
                </c:pt>
                <c:pt idx="3">
                  <c:v>Assists / game</c:v>
                </c:pt>
                <c:pt idx="4">
                  <c:v>Games played</c:v>
                </c:pt>
                <c:pt idx="5">
                  <c:v>Field goal %</c:v>
                </c:pt>
                <c:pt idx="6">
                  <c:v>Steals / game</c:v>
                </c:pt>
                <c:pt idx="7">
                  <c:v>Free throw %</c:v>
                </c:pt>
                <c:pt idx="8">
                  <c:v>Blocks / game</c:v>
                </c:pt>
                <c:pt idx="9">
                  <c:v>3-point %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29.53</c:v>
                </c:pt>
                <c:pt idx="1">
                  <c:v>26.83</c:v>
                </c:pt>
                <c:pt idx="2">
                  <c:v>15.31</c:v>
                </c:pt>
                <c:pt idx="3">
                  <c:v>13.54</c:v>
                </c:pt>
                <c:pt idx="4">
                  <c:v>3.92</c:v>
                </c:pt>
                <c:pt idx="5">
                  <c:v>3.09</c:v>
                </c:pt>
                <c:pt idx="6">
                  <c:v>2.5299999999999998</c:v>
                </c:pt>
                <c:pt idx="7">
                  <c:v>2.37</c:v>
                </c:pt>
                <c:pt idx="8">
                  <c:v>1.7</c:v>
                </c:pt>
                <c:pt idx="9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817-48BA-9BFC-6D025BFE54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"/>
        </c:scaling>
        <c:delete val="1"/>
        <c:axPos val="t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148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914400"/>
            <a:ext cx="47548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310896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9144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Predicting the NBA MVP with Machine Learning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3108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An empirical comparison of classification and ranking models on 70 years of NBA data</a:t>
            </a:r>
            <a:endParaRPr lang="en-US" sz="1600" dirty="0"/>
          </a:p>
        </p:txBody>
      </p:sp>
      <p:sp>
        <p:nvSpPr>
          <p:cNvPr id="4" name="ball"/>
          <p:cNvSpPr/>
          <p:nvPr/>
        </p:nvSpPr>
        <p:spPr>
          <a:xfrm>
            <a:off x="5440680" y="1005840"/>
            <a:ext cx="3108960" cy="31089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5" name="ball seam v"/>
          <p:cNvSpPr/>
          <p:nvPr/>
        </p:nvSpPr>
        <p:spPr>
          <a:xfrm>
            <a:off x="6995160" y="1005840"/>
            <a:ext cx="0" cy="310896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6" name="ball seam h"/>
          <p:cNvSpPr/>
          <p:nvPr/>
        </p:nvSpPr>
        <p:spPr>
          <a:xfrm>
            <a:off x="5440680" y="2560320"/>
            <a:ext cx="310896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7" name="ball seam l"/>
          <p:cNvSpPr/>
          <p:nvPr/>
        </p:nvSpPr>
        <p:spPr>
          <a:xfrm>
            <a:off x="4041648" y="1005840"/>
            <a:ext cx="2798064" cy="3108960"/>
          </a:xfrm>
          <a:prstGeom prst="arc">
            <a:avLst>
              <a:gd name="adj1" fmla="val 16200000"/>
              <a:gd name="adj2" fmla="val 5400000"/>
            </a:avLst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8" name="ball seam r"/>
          <p:cNvSpPr/>
          <p:nvPr/>
        </p:nvSpPr>
        <p:spPr>
          <a:xfrm>
            <a:off x="7150608" y="1005840"/>
            <a:ext cx="2798064" cy="3108960"/>
          </a:xfrm>
          <a:prstGeom prst="arc">
            <a:avLst>
              <a:gd name="adj1" fmla="val 5400000"/>
              <a:gd name="adj2" fmla="val 16200000"/>
            </a:avLst>
          </a:prstGeom>
          <a:noFill/>
          <a:ln w="381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70 seasons  ·  25,103 player-seasons  ·  3 models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Pipeline and Cleaning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457200" y="1188720"/>
            <a:ext cx="17830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Raw CSVs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6420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Award Shares: 3,465 rows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Per Game: 33,339 rows</a:t>
            </a:r>
            <a:endParaRPr lang="en-US" sz="1400" dirty="0"/>
          </a:p>
        </p:txBody>
      </p:sp>
      <p:sp>
        <p:nvSpPr>
          <p:cNvPr id="6" name="arrow 1"/>
          <p:cNvSpPr/>
          <p:nvPr/>
        </p:nvSpPr>
        <p:spPr>
          <a:xfrm>
            <a:off x="2286000" y="1828800"/>
            <a:ext cx="274320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step 2"/>
          <p:cNvSpPr/>
          <p:nvPr/>
        </p:nvSpPr>
        <p:spPr>
          <a:xfrm>
            <a:off x="2606040" y="1188720"/>
            <a:ext cx="17830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298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Trade clean-up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66420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Kept combined “TM” totals, dropped duplicates: 26,932 rows</a:t>
            </a:r>
            <a:endParaRPr lang="en-US" sz="1400" dirty="0"/>
          </a:p>
        </p:txBody>
      </p:sp>
      <p:sp>
        <p:nvSpPr>
          <p:cNvPr id="10" name="arrow 2"/>
          <p:cNvSpPr/>
          <p:nvPr/>
        </p:nvSpPr>
        <p:spPr>
          <a:xfrm>
            <a:off x="4434840" y="1828800"/>
            <a:ext cx="274320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step 3"/>
          <p:cNvSpPr/>
          <p:nvPr/>
        </p:nvSpPr>
        <p:spPr>
          <a:xfrm>
            <a:off x="4754880" y="1188720"/>
            <a:ext cx="17830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98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Era filter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6420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Seasons 1956 to 2025: 25,103 rows</a:t>
            </a:r>
            <a:endParaRPr lang="en-US" sz="1400" dirty="0"/>
          </a:p>
        </p:txBody>
      </p:sp>
      <p:sp>
        <p:nvSpPr>
          <p:cNvPr id="14" name="arrow 3"/>
          <p:cNvSpPr/>
          <p:nvPr/>
        </p:nvSpPr>
        <p:spPr>
          <a:xfrm>
            <a:off x="6583680" y="1828800"/>
            <a:ext cx="274320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step 4"/>
          <p:cNvSpPr/>
          <p:nvPr/>
        </p:nvSpPr>
        <p:spPr>
          <a:xfrm>
            <a:off x="6903720" y="1188720"/>
            <a:ext cx="17830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1298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Label merge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66420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70 MVP winners and 25,033 others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154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25,103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</a:rPr>
              <a:t>clean player-seasons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154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</a:rPr>
              <a:t>MVP winners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154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0.279%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</a:rPr>
              <a:t>of rows are MVPs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Feature Profile: MVP vs. League</a:t>
            </a:r>
            <a:endParaRPr lang="en-US" sz="3200" dirty="0"/>
          </a:p>
        </p:txBody>
      </p:sp>
      <p:sp>
        <p:nvSpPr>
          <p:cNvPr id="3" name="chip Points / game"/>
          <p:cNvSpPr/>
          <p:nvPr/>
        </p:nvSpPr>
        <p:spPr>
          <a:xfrm>
            <a:off x="457200" y="118872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Points / game</a:t>
            </a:r>
            <a:endParaRPr lang="en-US" sz="1400" dirty="0"/>
          </a:p>
        </p:txBody>
      </p:sp>
      <p:sp>
        <p:nvSpPr>
          <p:cNvPr id="5" name="chip Minutes / game"/>
          <p:cNvSpPr/>
          <p:nvPr/>
        </p:nvSpPr>
        <p:spPr>
          <a:xfrm>
            <a:off x="2377440" y="118872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7168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Minutes / game</a:t>
            </a:r>
            <a:endParaRPr lang="en-US" sz="1400" dirty="0"/>
          </a:p>
        </p:txBody>
      </p:sp>
      <p:sp>
        <p:nvSpPr>
          <p:cNvPr id="7" name="chip Rebounds / game"/>
          <p:cNvSpPr/>
          <p:nvPr/>
        </p:nvSpPr>
        <p:spPr>
          <a:xfrm>
            <a:off x="457200" y="182880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Rebounds / game</a:t>
            </a:r>
            <a:endParaRPr lang="en-US" sz="1400" dirty="0"/>
          </a:p>
        </p:txBody>
      </p:sp>
      <p:sp>
        <p:nvSpPr>
          <p:cNvPr id="9" name="chip Assists / game"/>
          <p:cNvSpPr/>
          <p:nvPr/>
        </p:nvSpPr>
        <p:spPr>
          <a:xfrm>
            <a:off x="2377440" y="182880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87168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Assists / game</a:t>
            </a:r>
            <a:endParaRPr lang="en-US" sz="1400" dirty="0"/>
          </a:p>
        </p:txBody>
      </p:sp>
      <p:sp>
        <p:nvSpPr>
          <p:cNvPr id="11" name="chip Games played"/>
          <p:cNvSpPr/>
          <p:nvPr/>
        </p:nvSpPr>
        <p:spPr>
          <a:xfrm>
            <a:off x="457200" y="246888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Games played</a:t>
            </a:r>
            <a:endParaRPr lang="en-US" sz="1400" dirty="0"/>
          </a:p>
        </p:txBody>
      </p:sp>
      <p:sp>
        <p:nvSpPr>
          <p:cNvPr id="13" name="chip Field goal %"/>
          <p:cNvSpPr/>
          <p:nvPr/>
        </p:nvSpPr>
        <p:spPr>
          <a:xfrm>
            <a:off x="2377440" y="246888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87168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Field goal %</a:t>
            </a:r>
            <a:endParaRPr lang="en-US" sz="1400" dirty="0"/>
          </a:p>
        </p:txBody>
      </p:sp>
      <p:sp>
        <p:nvSpPr>
          <p:cNvPr id="15" name="chip Steals / game"/>
          <p:cNvSpPr/>
          <p:nvPr/>
        </p:nvSpPr>
        <p:spPr>
          <a:xfrm>
            <a:off x="457200" y="310896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Steals / game</a:t>
            </a:r>
            <a:endParaRPr lang="en-US" sz="1400" dirty="0"/>
          </a:p>
        </p:txBody>
      </p:sp>
      <p:sp>
        <p:nvSpPr>
          <p:cNvPr id="17" name="chip Free throw %"/>
          <p:cNvSpPr/>
          <p:nvPr/>
        </p:nvSpPr>
        <p:spPr>
          <a:xfrm>
            <a:off x="2377440" y="310896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487168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Free throw %</a:t>
            </a:r>
            <a:endParaRPr lang="en-US" sz="1400" dirty="0"/>
          </a:p>
        </p:txBody>
      </p:sp>
      <p:sp>
        <p:nvSpPr>
          <p:cNvPr id="19" name="chip Blocks / game"/>
          <p:cNvSpPr/>
          <p:nvPr/>
        </p:nvSpPr>
        <p:spPr>
          <a:xfrm>
            <a:off x="457200" y="374904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749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Blocks / game</a:t>
            </a:r>
            <a:endParaRPr lang="en-US" sz="1400" dirty="0"/>
          </a:p>
        </p:txBody>
      </p:sp>
      <p:sp>
        <p:nvSpPr>
          <p:cNvPr id="21" name="chip 3-point %"/>
          <p:cNvSpPr/>
          <p:nvPr/>
        </p:nvSpPr>
        <p:spPr>
          <a:xfrm>
            <a:off x="2377440" y="374904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487168" y="3749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3-point %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480560" y="109728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4480560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All NBA player-seasons vs. historical MVP winners, 1956–2025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Metric Paradox</a:t>
            </a:r>
            <a:endParaRPr lang="en-US" sz="3200" dirty="0"/>
          </a:p>
        </p:txBody>
      </p:sp>
      <p:sp>
        <p:nvSpPr>
          <p:cNvPr id="3" name="stat full"/>
          <p:cNvSpPr/>
          <p:nvPr/>
        </p:nvSpPr>
        <p:spPr>
          <a:xfrm>
            <a:off x="457200" y="1188720"/>
            <a:ext cx="301752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0.279%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MVPs in the full dataset</a:t>
            </a:r>
            <a:endParaRPr lang="en-US" sz="1400" dirty="0"/>
          </a:p>
        </p:txBody>
      </p:sp>
      <p:sp>
        <p:nvSpPr>
          <p:cNvPr id="6" name="stat test"/>
          <p:cNvSpPr/>
          <p:nvPr/>
        </p:nvSpPr>
        <p:spPr>
          <a:xfrm>
            <a:off x="457200" y="2651760"/>
            <a:ext cx="301752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743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0.179%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MVPs in the 2020–25 test 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Classifying at P ≥ 0.50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508760"/>
          <a:ext cx="493776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Flagged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Logistic Reg.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186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3.2%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94.63%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Naive Bayes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99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6.1%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97.23%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</a:rPr>
                        <a:t>0.0%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99.82%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749040" y="32918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Random Forest’s top probability was only 0.31, so it never flags an MVP, yet scores 99.82% accuracy.</a:t>
            </a:r>
            <a:endParaRPr lang="en-US" sz="1400" dirty="0"/>
          </a:p>
        </p:txBody>
      </p:sp>
      <p:sp>
        <p:nvSpPr>
          <p:cNvPr id="12" name="solution banner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Solution: re-frame as an intra-season ranking of candidates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Models Compared</a:t>
            </a:r>
            <a:endParaRPr lang="en-US" sz="3200" dirty="0"/>
          </a:p>
        </p:txBody>
      </p:sp>
      <p:sp>
        <p:nvSpPr>
          <p:cNvPr id="3" name="model card 1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badg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Logistic Regression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75569"/>
                </a:solidFill>
              </a:rPr>
              <a:t>Linear baseline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Standardized features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Balanced class weights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Scores saturate near 1.0</a:t>
            </a:r>
            <a:endParaRPr lang="en-US" sz="1400" dirty="0"/>
          </a:p>
        </p:txBody>
      </p:sp>
      <p:sp>
        <p:nvSpPr>
          <p:cNvPr id="9" name="model card 2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0" name="badge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Gaussian Naive Bayes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75569"/>
                </a:solidFill>
              </a:rPr>
              <a:t>Probabilistic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Assumes feature independence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Unscaled, imputed inputs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Overconfident on correlated stats</a:t>
            </a:r>
            <a:endParaRPr lang="en-US" sz="1400" dirty="0"/>
          </a:p>
        </p:txBody>
      </p:sp>
      <p:sp>
        <p:nvSpPr>
          <p:cNvPr id="15" name="model card 3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Random Forest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300-tree ensemble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Bagging with balanced weights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Captures non-linear interactions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Averages tree posteriors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Master Results, 2020–2025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310896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Avg rank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2.333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1.5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Logistic Reg.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2.500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2.5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Naive Bayes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2.667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2.0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verdict"/>
          <p:cNvSpPr/>
          <p:nvPr/>
        </p:nvSpPr>
        <p:spPr>
          <a:xfrm>
            <a:off x="5577840" y="3063240"/>
            <a:ext cx="310896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760720" y="3108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Random Forest’s Top-1 hit rate beats both baselines (3 of 6 seasons vs. 1 of 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Season-by-Season Ranks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94436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Season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Actual MVP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Forest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Logistic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Bayes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Vote-getters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2020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Giannis Antetokounmpo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2021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Nikola Jokić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2022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Nikola Jokić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532D"/>
                          </a:solidFill>
                        </a:rPr>
                        <a:t>#1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2023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Joel Embiid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Nikola Jokić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020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Shai Gilgeous-Alexander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#2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020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Rank of the actual winner among official vote-getters. Green marks a #1 pick; Random Forest nailed 3 of 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Makes an MVP?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53949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op two"/>
          <p:cNvSpPr/>
          <p:nvPr/>
        </p:nvSpPr>
        <p:spPr>
          <a:xfrm>
            <a:off x="6126480" y="1188720"/>
            <a:ext cx="2560320" cy="1691640"/>
          </a:xfrm>
          <a:prstGeom prst="roundRect">
            <a:avLst>
              <a:gd name="adj" fmla="val 5405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56.4%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011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of importance comes from points and minutes alone</a:t>
            </a:r>
            <a:endParaRPr lang="en-US" sz="1400" dirty="0"/>
          </a:p>
        </p:txBody>
      </p:sp>
      <p:sp>
        <p:nvSpPr>
          <p:cNvPr id="7" name="secondary tier"/>
          <p:cNvSpPr/>
          <p:nvPr/>
        </p:nvSpPr>
        <p:spPr>
          <a:xfrm>
            <a:off x="612648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0936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28.9%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from rebounds and assists. Shooting splits barely register.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Anomalies and Failure Modes</a:t>
            </a:r>
            <a:endParaRPr lang="en-US" sz="3200" dirty="0"/>
          </a:p>
        </p:txBody>
      </p:sp>
      <p:sp>
        <p:nvSpPr>
          <p:cNvPr id="3" name="curry card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Stephen Curry anomaly</a:t>
            </a:r>
            <a:endParaRPr lang="en-US" sz="1800" dirty="0"/>
          </a:p>
        </p:txBody>
      </p:sp>
      <p:sp>
        <p:nvSpPr>
          <p:cNvPr id="5" name="curry 2015"/>
          <p:cNvSpPr/>
          <p:nvPr/>
        </p:nvSpPr>
        <p:spPr>
          <a:xfrm>
            <a:off x="685800" y="178308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75569"/>
                </a:solidFill>
              </a:rPr>
              <a:t>2015 MVP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#295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23.8 PPG  ·  32.7 MPG</a:t>
            </a:r>
            <a:endParaRPr lang="en-US" sz="1200" dirty="0"/>
          </a:p>
        </p:txBody>
      </p:sp>
      <p:sp>
        <p:nvSpPr>
          <p:cNvPr id="9" name="curry 2016"/>
          <p:cNvSpPr/>
          <p:nvPr/>
        </p:nvSpPr>
        <p:spPr>
          <a:xfrm>
            <a:off x="2880360" y="178308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1856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75569"/>
                </a:solidFill>
              </a:rPr>
              <a:t>2016 MVP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#1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30.1 PPG  ·  34.2 MPG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832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Golden State won 67 games by blowouts, trimming Curry’s minutes. Team success is invisible to per-game features.</a:t>
            </a:r>
            <a:endParaRPr lang="en-US" sz="1400" dirty="0"/>
          </a:p>
        </p:txBody>
      </p:sp>
      <p:sp>
        <p:nvSpPr>
          <p:cNvPr id="14" name="walk-forward"/>
          <p:cNvSpPr/>
          <p:nvPr/>
        </p:nvSpPr>
        <p:spPr>
          <a:xfrm>
            <a:off x="5486400" y="1188720"/>
            <a:ext cx="3200400" cy="1554480"/>
          </a:xfrm>
          <a:prstGeom prst="roundRect">
            <a:avLst>
              <a:gd name="adj" fmla="val 5882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Walk-forward, 2010–2025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645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Winner ranked #1 in 8 of 16 seasons and top 4 in 11 of 16.</a:t>
            </a:r>
            <a:endParaRPr lang="en-US" sz="1600" dirty="0"/>
          </a:p>
        </p:txBody>
      </p:sp>
      <p:sp>
        <p:nvSpPr>
          <p:cNvPr id="17" name="naive bayes flaw"/>
          <p:cNvSpPr/>
          <p:nvPr/>
        </p:nvSpPr>
        <p:spPr>
          <a:xfrm>
            <a:off x="5486400" y="2880360"/>
            <a:ext cx="32004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0" y="2990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Naive Bayes flaw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31012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</a:rPr>
              <a:t>Gave Wembanyama P = 1.0 in 2024 on 3.6 blocks plus 10.6 rebounds, breaking its independence assumption.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Decision-Support GUI</a:t>
            </a:r>
            <a:endParaRPr lang="en-US" sz="3200" dirty="0"/>
          </a:p>
        </p:txBody>
      </p:sp>
      <p:sp>
        <p:nvSpPr>
          <p:cNvPr id="3" name="web app"/>
          <p:cNvSpPr/>
          <p:nvPr/>
        </p:nvSpPr>
        <p:spPr>
          <a:xfrm>
            <a:off x="457200" y="1188720"/>
            <a:ext cx="38404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Web app: Flask + HTML/CSS/JS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Dark arena design, sliders, multi-model consensus, 65-game rule check</a:t>
            </a:r>
            <a:endParaRPr lang="en-US" sz="1200" dirty="0"/>
          </a:p>
        </p:txBody>
      </p:sp>
      <p:sp>
        <p:nvSpPr>
          <p:cNvPr id="6" name="desktop app"/>
          <p:cNvSpPr/>
          <p:nvPr/>
        </p:nvSpPr>
        <p:spPr>
          <a:xfrm>
            <a:off x="457200" y="2194560"/>
            <a:ext cx="38404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Desktop app: Tkinter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Standalone, zero-dependency Python GUI with presets and validation</a:t>
            </a:r>
            <a:endParaRPr lang="en-US" sz="1200" dirty="0"/>
          </a:p>
        </p:txBody>
      </p:sp>
      <p:sp>
        <p:nvSpPr>
          <p:cNvPr id="9" name="arrow to engine"/>
          <p:cNvSpPr/>
          <p:nvPr/>
        </p:nvSpPr>
        <p:spPr>
          <a:xfrm>
            <a:off x="4434840" y="1965960"/>
            <a:ext cx="41148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engine"/>
          <p:cNvSpPr/>
          <p:nvPr/>
        </p:nvSpPr>
        <p:spPr>
          <a:xfrm>
            <a:off x="4983480" y="1188720"/>
            <a:ext cx="3703320" cy="1874520"/>
          </a:xfrm>
          <a:prstGeom prst="roundRect">
            <a:avLst>
              <a:gd name="adj" fmla="val 4878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66360" y="1298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Prediction engine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6916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Imputer + scaler pipeline</a:t>
            </a:r>
            <a:endParaRPr lang="en-US" sz="14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Random Forest, Logistic, Naive Bayes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Cached .joblib models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8 one-click historical presets</a:t>
            </a:r>
            <a:endParaRPr lang="en-US" sz="1400" dirty="0"/>
          </a:p>
        </p:txBody>
      </p:sp>
      <p:sp>
        <p:nvSpPr>
          <p:cNvPr id="14" name="preset Jokić 2024"/>
          <p:cNvSpPr/>
          <p:nvPr/>
        </p:nvSpPr>
        <p:spPr>
          <a:xfrm>
            <a:off x="457200" y="361188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Jokić 2024</a:t>
            </a:r>
            <a:endParaRPr lang="en-US" sz="1400" dirty="0"/>
          </a:p>
        </p:txBody>
      </p:sp>
      <p:sp>
        <p:nvSpPr>
          <p:cNvPr id="16" name="preset Gilgeous-Alexander 2025"/>
          <p:cNvSpPr/>
          <p:nvPr/>
        </p:nvSpPr>
        <p:spPr>
          <a:xfrm>
            <a:off x="2560320" y="361188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6032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Gilgeous-Alexander 2025</a:t>
            </a:r>
            <a:endParaRPr lang="en-US" sz="1200" dirty="0"/>
          </a:p>
        </p:txBody>
      </p:sp>
      <p:sp>
        <p:nvSpPr>
          <p:cNvPr id="18" name="preset Curry 2016"/>
          <p:cNvSpPr/>
          <p:nvPr/>
        </p:nvSpPr>
        <p:spPr>
          <a:xfrm>
            <a:off x="4663440" y="361188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Curry 2016</a:t>
            </a:r>
            <a:endParaRPr lang="en-US" sz="1400" dirty="0"/>
          </a:p>
        </p:txBody>
      </p:sp>
      <p:sp>
        <p:nvSpPr>
          <p:cNvPr id="20" name="preset Jordan 1988"/>
          <p:cNvSpPr/>
          <p:nvPr/>
        </p:nvSpPr>
        <p:spPr>
          <a:xfrm>
            <a:off x="6766560" y="361188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Jordan 1988</a:t>
            </a:r>
            <a:endParaRPr lang="en-US" sz="1400" dirty="0"/>
          </a:p>
        </p:txBody>
      </p:sp>
      <p:sp>
        <p:nvSpPr>
          <p:cNvPr id="22" name="preset Embiid 2023"/>
          <p:cNvSpPr/>
          <p:nvPr/>
        </p:nvSpPr>
        <p:spPr>
          <a:xfrm>
            <a:off x="457200" y="411480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Embiid 2023</a:t>
            </a:r>
            <a:endParaRPr lang="en-US" sz="1400" dirty="0"/>
          </a:p>
        </p:txBody>
      </p:sp>
      <p:sp>
        <p:nvSpPr>
          <p:cNvPr id="24" name="preset Giannis 2020"/>
          <p:cNvSpPr/>
          <p:nvPr/>
        </p:nvSpPr>
        <p:spPr>
          <a:xfrm>
            <a:off x="2560320" y="411480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6032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Giannis 2020</a:t>
            </a:r>
            <a:endParaRPr lang="en-US" sz="1400" dirty="0"/>
          </a:p>
        </p:txBody>
      </p:sp>
      <p:sp>
        <p:nvSpPr>
          <p:cNvPr id="26" name="preset Dončić 2024"/>
          <p:cNvSpPr/>
          <p:nvPr/>
        </p:nvSpPr>
        <p:spPr>
          <a:xfrm>
            <a:off x="4663440" y="411480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6344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Dončić 2024</a:t>
            </a:r>
            <a:endParaRPr lang="en-US" sz="1400" dirty="0"/>
          </a:p>
        </p:txBody>
      </p:sp>
      <p:sp>
        <p:nvSpPr>
          <p:cNvPr id="28" name="preset Role player"/>
          <p:cNvSpPr/>
          <p:nvPr/>
        </p:nvSpPr>
        <p:spPr>
          <a:xfrm>
            <a:off x="6766560" y="4114800"/>
            <a:ext cx="196596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Role player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Limits, Next Steps, Takeaway</a:t>
            </a:r>
            <a:endParaRPr lang="en-US" sz="3200" dirty="0"/>
          </a:p>
        </p:txBody>
      </p:sp>
      <p:sp>
        <p:nvSpPr>
          <p:cNvPr id="3" name="col Limitations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1B24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 team wins or seeding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 VORP, BPM or Win Shares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Voter fatigue and narratives</a:t>
            </a:r>
            <a:endParaRPr lang="en-US" sz="1600" dirty="0"/>
          </a:p>
        </p:txBody>
      </p:sp>
      <p:sp>
        <p:nvSpPr>
          <p:cNvPr id="6" name="col Future work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1B24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92024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LambdaMART learning-to-rank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Team win % and seed features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Nightly stats scraping, poll sentiment</a:t>
            </a:r>
            <a:endParaRPr lang="en-US" sz="1600" dirty="0"/>
          </a:p>
        </p:txBody>
      </p:sp>
      <p:sp>
        <p:nvSpPr>
          <p:cNvPr id="9" name="takeaway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317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Top-3 accuracy. Scoring volume and court time dominate how MVP voters behave.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BA MVP Arena">
  <a:themeElements>
    <a:clrScheme name="NBA MVP Arena">
      <a:dk1>
        <a:srgbClr val="0B1020"/>
      </a:dk1>
      <a:lt1>
        <a:srgbClr val="FFFFFF"/>
      </a:lt1>
      <a:dk2>
        <a:srgbClr val="1B2438"/>
      </a:dk2>
      <a:lt2>
        <a:srgbClr val="F1F3F7"/>
      </a:lt2>
      <a:accent1>
        <a:srgbClr val="E8590C"/>
      </a:accent1>
      <a:accent2>
        <a:srgbClr val="F59E0B"/>
      </a:accent2>
      <a:accent3>
        <a:srgbClr val="3B6FB6"/>
      </a:accent3>
      <a:accent4>
        <a:srgbClr val="15803D"/>
      </a:accent4>
      <a:accent5>
        <a:srgbClr val="DC2626"/>
      </a:accent5>
      <a:accent6>
        <a:srgbClr val="94A3B8"/>
      </a:accent6>
      <a:hlink>
        <a:srgbClr val="3B6FB6"/>
      </a:hlink>
      <a:folHlink>
        <a:srgbClr val="94A3B8"/>
      </a:folHlink>
    </a:clrScheme>
    <a:fontScheme name="NBA MVP Are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On-screen Show (16:9)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NBA MVP Arena</vt:lpstr>
      <vt:lpstr>Predicting the NBA MVP with Machine Learning</vt:lpstr>
      <vt:lpstr>Data Pipeline and Cleaning</vt:lpstr>
      <vt:lpstr>Feature Profile: MVP vs. League</vt:lpstr>
      <vt:lpstr>The Metric Paradox</vt:lpstr>
      <vt:lpstr>Three Models Compared</vt:lpstr>
      <vt:lpstr>Master Results, 2020–2025</vt:lpstr>
      <vt:lpstr>Season-by-Season Ranks</vt:lpstr>
      <vt:lpstr>What Makes an MVP?</vt:lpstr>
      <vt:lpstr>Anomalies and Failure Modes</vt:lpstr>
      <vt:lpstr>Live Decision-Support GUI</vt:lpstr>
      <vt:lpstr>Limits, Next Steps, Takeaway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NBA MVP with Machine Learning</dc:title>
  <dc:subject>PptxGenJS Presentation</dc:subject>
  <dc:creator>PptxGenJS</dc:creator>
  <cp:lastModifiedBy>Rishi Jayprakash</cp:lastModifiedBy>
  <cp:revision>2</cp:revision>
  <dcterms:created xsi:type="dcterms:W3CDTF">2026-10-13T09:13:07Z</dcterms:created>
  <dcterms:modified xsi:type="dcterms:W3CDTF">2026-10-13T15:07:34Z</dcterms:modified>
</cp:coreProperties>
</file>